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IT Regulatory Oversight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any regulation — DORA is just the first load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74920" y="1060704"/>
            <a:ext cx="2834640" cy="603504"/>
          </a:xfrm>
          <a:prstGeom prst="roundRect">
            <a:avLst>
              <a:gd name="adj" fmla="val 9091"/>
            </a:avLst>
          </a:prstGeom>
          <a:solidFill>
            <a:srgbClr val="FBEEDA"/>
          </a:solidFill>
          <a:ln w="15875">
            <a:solidFill>
              <a:srgbClr val="C8892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074920" y="106070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6A1E"/>
                </a:solidFill>
              </a:rPr>
              <a:t>No control? → logged exception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6A1E"/>
                </a:solidFill>
              </a:rPr>
              <a:t>(PW · TW · EX) — disclosed, not hidden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92240" y="1664208"/>
            <a:ext cx="0" cy="301752"/>
          </a:xfrm>
          <a:prstGeom prst="line">
            <a:avLst/>
          </a:prstGeom>
          <a:noFill/>
          <a:ln w="15875">
            <a:solidFill>
              <a:srgbClr val="C8892F"/>
            </a:solidFill>
            <a:prstDash val="dash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2631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057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spc="100" kern="0" dirty="0">
                <a:solidFill>
                  <a:srgbClr val="9FB3C8"/>
                </a:solidFill>
              </a:rPr>
              <a:t>◇ ANY REGULATION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</a:rPr>
              <a:t>DORA</a:t>
            </a:r>
            <a:endParaRPr lang="en-US" sz="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6D3E0"/>
                </a:solidFill>
              </a:rPr>
              <a:t>loaded today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8496A8"/>
                </a:solidFill>
              </a:rPr>
              <a:t>AI Act · GDPR · NIST · ISO →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965960"/>
            <a:ext cx="22860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CBD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2112264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2F5F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06040" y="211226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 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423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Coverage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DORA objectives covered by an owned policy / group-standard statement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965960"/>
            <a:ext cx="228600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CBD6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2112264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2E8B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66360" y="211226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 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423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Operationalisation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Owned statement operationalised by a referenced control (or exception)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1965960"/>
            <a:ext cx="2926080" cy="1325880"/>
          </a:xfrm>
          <a:prstGeom prst="roundRect">
            <a:avLst>
              <a:gd name="adj" fmla="val 4828"/>
            </a:avLst>
          </a:prstGeom>
          <a:solidFill>
            <a:srgbClr val="EAF2FB"/>
          </a:solidFill>
          <a:ln w="12700">
            <a:solidFill>
              <a:srgbClr val="A9C7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54112" y="2112264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spc="100" kern="0" dirty="0">
                <a:solidFill>
                  <a:srgbClr val="2F5F8F"/>
                </a:solidFill>
              </a:rPr>
              <a:t>OUTCOME · COMPLIANCE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The DORA compliance risk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complete set × implemented % → within board appetite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2624328"/>
            <a:ext cx="32004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2624328"/>
            <a:ext cx="27432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2624328"/>
            <a:ext cx="27432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06240" y="3291840"/>
            <a:ext cx="0" cy="548640"/>
          </a:xfrm>
          <a:prstGeom prst="line">
            <a:avLst/>
          </a:prstGeom>
          <a:noFill/>
          <a:ln w="22225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434840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794"/>
                </a:solidFill>
              </a:rPr>
              <a:t>controls enter the RCSA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84048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6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986784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C8892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606040" y="39867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 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4297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Effectiveness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Control efficacy in treating risk — controls mapped to ICT risks · tested in the RCSA · residual tracked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89520" y="3840480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ECF3EC"/>
          </a:solidFill>
          <a:ln w="12700">
            <a:solidFill>
              <a:srgbClr val="B7D0B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54112" y="3986784"/>
            <a:ext cx="2596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spc="100" kern="0" dirty="0">
                <a:solidFill>
                  <a:srgbClr val="2C5F2D"/>
                </a:solidFill>
              </a:rPr>
              <a:t>OUTCOME · EFFECTIVENESS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34A24"/>
                </a:solidFill>
              </a:rPr>
              <a:t>Operational resilience</a:t>
            </a:r>
            <a:endParaRPr lang="en-US" sz="850" dirty="0"/>
          </a:p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controls proven to reduce ICT risk (Appendix 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4453128"/>
            <a:ext cx="1737360" cy="0"/>
          </a:xfrm>
          <a:prstGeom prst="line">
            <a:avLst/>
          </a:prstGeom>
          <a:noFill/>
          <a:ln w="22225">
            <a:solidFill>
              <a:srgbClr val="8A97A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51560" y="5413248"/>
            <a:ext cx="9464040" cy="0"/>
          </a:xfrm>
          <a:prstGeom prst="line">
            <a:avLst/>
          </a:prstGeom>
          <a:noFill/>
          <a:ln w="15875">
            <a:solidFill>
              <a:srgbClr val="8A97A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51560" y="3291840"/>
            <a:ext cx="0" cy="2121408"/>
          </a:xfrm>
          <a:prstGeom prst="line">
            <a:avLst/>
          </a:prstGeom>
          <a:noFill/>
          <a:ln w="15875">
            <a:solidFill>
              <a:srgbClr val="8A97A6"/>
            </a:solidFill>
            <a:prstDash val="dash"/>
            <a:head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200400" y="5102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794"/>
                </a:solidFill>
              </a:rPr>
              <a:t>Re-run the engine — annually + on material change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74243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3644"/>
                </a:solidFill>
              </a:rPr>
              <a:t>Controls 1 &amp; 2 </a:t>
            </a:r>
            <a:pPr algn="ctr" indent="0" marL="0">
              <a:buNone/>
            </a:pPr>
            <a:r>
              <a:rPr lang="en-US" sz="1250" b="1" dirty="0">
                <a:solidFill>
                  <a:srgbClr val="2F5F8F"/>
                </a:solidFill>
              </a:rPr>
              <a:t>prove compliance</a:t>
            </a:r>
            <a:pPr algn="ctr" indent="0" marL="0">
              <a:buNone/>
            </a:pPr>
            <a:r>
              <a:rPr lang="en-US" sz="1250" dirty="0">
                <a:solidFill>
                  <a:srgbClr val="2A3644"/>
                </a:solidFill>
              </a:rPr>
              <a:t>; Control 3 proves </a:t>
            </a:r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</a:rPr>
              <a:t>effectiveness</a:t>
            </a:r>
            <a:pPr algn="ctr" indent="0" marL="0">
              <a:buNone/>
            </a:pPr>
            <a:r>
              <a:rPr lang="en-US" sz="1250" dirty="0">
                <a:solidFill>
                  <a:srgbClr val="2A3644"/>
                </a:solidFill>
              </a:rPr>
              <a:t> through business-as-usual risk treatment.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1081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Swap the regulation; the engine — and the evidence — stay the same.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2026-09-10T10:26:01Z</dcterms:created>
  <dcterms:modified xsi:type="dcterms:W3CDTF">2026-09-10T10:26:01Z</dcterms:modified>
</cp:coreProperties>
</file>